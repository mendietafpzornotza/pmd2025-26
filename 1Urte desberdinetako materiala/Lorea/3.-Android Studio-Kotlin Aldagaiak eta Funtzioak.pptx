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6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2" r:id="rId46"/>
    <p:sldId id="303" r:id="rId47"/>
    <p:sldId id="304" r:id="rId48"/>
    <p:sldId id="305" r:id="rId49"/>
    <p:sldId id="306" r:id="rId50"/>
    <p:sldId id="307" r:id="rId51"/>
    <p:sldId id="309" r:id="rId52"/>
    <p:sldId id="310" r:id="rId53"/>
    <p:sldId id="311" r:id="rId54"/>
    <p:sldId id="312" r:id="rId55"/>
    <p:sldId id="313" r:id="rId56"/>
    <p:sldId id="314" r:id="rId57"/>
    <p:sldId id="315" r:id="rId5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81" d="100"/>
          <a:sy n="81" d="100"/>
        </p:scale>
        <p:origin x="523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9/13/2024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9/13/2024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9/13/2024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9/13/2024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9/13/2024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9/13/2024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9/13/2024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9/13/2024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9/13/2024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9/13/2024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9/13/2024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9/13/2024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9/13/2024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9/13/2024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9/13/2024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9/13/2024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9/13/2024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9/13/2024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15DC12-2F0A-2AD5-2698-C0FA3E9502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625" y="1420322"/>
            <a:ext cx="11236750" cy="2677648"/>
          </a:xfrm>
        </p:spPr>
        <p:txBody>
          <a:bodyPr/>
          <a:lstStyle/>
          <a:p>
            <a:pPr algn="ctr"/>
            <a:r>
              <a:rPr lang="es-ES" sz="6000" b="0" i="0" u="none" strike="noStrike" baseline="0" dirty="0">
                <a:solidFill>
                  <a:schemeClr val="tx2">
                    <a:lumMod val="40000"/>
                    <a:lumOff val="60000"/>
                  </a:schemeClr>
                </a:solidFill>
                <a:latin typeface="Algerian" panose="04020705040A02060702" pitchFamily="82" charset="0"/>
              </a:rPr>
              <a:t>Android </a:t>
            </a:r>
            <a:r>
              <a:rPr lang="es-ES" sz="6000" b="0" i="0" u="none" strike="noStrike" baseline="0" dirty="0" err="1">
                <a:solidFill>
                  <a:schemeClr val="tx2">
                    <a:lumMod val="40000"/>
                    <a:lumOff val="60000"/>
                  </a:schemeClr>
                </a:solidFill>
                <a:latin typeface="Algerian" panose="04020705040A02060702" pitchFamily="82" charset="0"/>
              </a:rPr>
              <a:t>studio</a:t>
            </a:r>
            <a:endParaRPr lang="es-ES" sz="6000" dirty="0">
              <a:solidFill>
                <a:schemeClr val="tx2">
                  <a:lumMod val="40000"/>
                  <a:lumOff val="60000"/>
                </a:schemeClr>
              </a:solidFill>
              <a:latin typeface="Algerian" panose="04020705040A02060702" pitchFamily="82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074B8CA-1A06-8191-B0EF-9BF91DF36C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s-ES" sz="2800" dirty="0" err="1">
                <a:latin typeface="Arial" panose="020B0604020202020204" pitchFamily="34" charset="0"/>
                <a:cs typeface="Arial" panose="020B0604020202020204" pitchFamily="34" charset="0"/>
              </a:rPr>
              <a:t>Kotlin-aldagaiak</a:t>
            </a:r>
            <a:r>
              <a:rPr lang="es-ES" sz="2800" dirty="0"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800" dirty="0" err="1">
                <a:latin typeface="Arial" panose="020B0604020202020204" pitchFamily="34" charset="0"/>
                <a:cs typeface="Arial" panose="020B0604020202020204" pitchFamily="34" charset="0"/>
              </a:rPr>
              <a:t>funtzioak</a:t>
            </a:r>
            <a:endParaRPr lang="es-E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2FDB7C1A-3F97-7E19-5A24-52771BA1FA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787" y="636097"/>
            <a:ext cx="1736725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068958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2F6CEB-A2DA-8348-2702-E6B4C3690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b="0" i="0" u="none" strike="noStrike" baseline="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helburuak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4BC4ADD-00AC-0309-F075-018CAB9B8A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902" y="2256846"/>
            <a:ext cx="11133056" cy="460115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honetan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kontzeptu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hauek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landuko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ditugu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marL="0" indent="0"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Aldagaiak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1.1.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Aldagaiak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berresleitzea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1.2.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Berresleitu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ezin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aldagaiak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1.3.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Expresioak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adierazpenak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1.4.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Motak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Balio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mota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desberdinak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1.5.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Aldagai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mota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orokorrak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Funtzioak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2.1.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Funtzioen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oinarrizko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kontzeptuak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97615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56702"/>
            <a:ext cx="11266820" cy="4201754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Programazioan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proposito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bakarra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dute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balioak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izatea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Kotlinen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sortu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zenbaki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dezakegu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bertan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adibidez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 fontAlgn="base"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Kode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gauza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egiten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lerro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batean.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aldagaiak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91AAE09-D4E8-FAC9-0A09-D2B8A21657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8826" y="3301253"/>
            <a:ext cx="1994348" cy="422333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58888B49-4B73-A531-44E3-F14E28D498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3710" y="4529110"/>
            <a:ext cx="2301439" cy="1371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6210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56702"/>
            <a:ext cx="11266820" cy="4201754"/>
          </a:xfrm>
        </p:spPr>
        <p:txBody>
          <a:bodyPr>
            <a:noAutofit/>
          </a:bodyPr>
          <a:lstStyle/>
          <a:p>
            <a:pPr algn="just" fontAlgn="base"/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Adierazpena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ES" sz="2400" b="0" i="0" dirty="0">
                <a:solidFill>
                  <a:srgbClr val="00B0F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Var r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idazten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>
                <a:solidFill>
                  <a:srgbClr val="00B0F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izeneko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deklaratzen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deklaratzea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balde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sortzea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bezalakoa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dela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pentsa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dezakezu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 fontAlgn="base"/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Esleipen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ES" sz="2400" b="0" i="0" dirty="0">
                <a:solidFill>
                  <a:srgbClr val="00B0F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 = 5.2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idazten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>
                <a:solidFill>
                  <a:srgbClr val="00B0F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aldagaiari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>
                <a:solidFill>
                  <a:srgbClr val="00B0F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5.2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balioa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esleitzen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Bestela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esanda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5.2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zenbakia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baldean jarriko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br>
              <a:rPr lang="es-ES" sz="2400" dirty="0"/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aldagaiak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89DD578-695D-F46F-6176-B30BA034DD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5158" y="4294625"/>
            <a:ext cx="1653683" cy="2095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8482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56702"/>
            <a:ext cx="11266820" cy="4201754"/>
          </a:xfrm>
        </p:spPr>
        <p:txBody>
          <a:bodyPr>
            <a:noAutofit/>
          </a:bodyPr>
          <a:lstStyle/>
          <a:p>
            <a:pPr marL="0" indent="0" algn="l" fontAlgn="base">
              <a:buNone/>
            </a:pPr>
            <a:endParaRPr lang="pt-BR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l" fontAlgn="base">
              <a:buNone/>
            </a:pPr>
            <a:endParaRPr lang="pt-BR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l" fontAlgn="base">
              <a:buNone/>
            </a:pPr>
            <a:endParaRPr lang="pt-BR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l" fontAlgn="base">
              <a:buNone/>
            </a:pPr>
            <a:endParaRPr lang="pt-BR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r>
              <a:rPr lang="pt-BR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Kode-lerro</a:t>
            </a:r>
            <a:r>
              <a:rPr lang="pt-BR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honen</a:t>
            </a:r>
            <a:r>
              <a:rPr lang="pt-BR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hiru</a:t>
            </a:r>
            <a:r>
              <a:rPr lang="pt-BR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zatiak</a:t>
            </a:r>
            <a:r>
              <a:rPr lang="pt-BR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zatituko</a:t>
            </a:r>
            <a:r>
              <a:rPr lang="pt-BR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ditugu</a:t>
            </a:r>
            <a:r>
              <a:rPr lang="pt-BR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 fontAlgn="base"/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Var: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Kotlini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sortzeko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esaten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dion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hitz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erreserbatua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</a:t>
            </a:r>
          </a:p>
          <a:p>
            <a:pPr algn="just" fontAlgn="base"/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r: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izena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identifikatzailea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da. 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fontAlgn="base"/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5.2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zenbakia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aldagaiari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esleitzen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zaion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balioa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da.</a:t>
            </a:r>
          </a:p>
          <a:p>
            <a:pPr algn="just" fontAlgn="base"/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aldagaiak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D5A1D76-D27B-48D2-1CDC-2578115196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8384" y="2356702"/>
            <a:ext cx="3132091" cy="1493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5129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56702"/>
            <a:ext cx="11266820" cy="4201754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Kotlin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ikasten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jarraitzen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ikusiko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gako-hitz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ugarietako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Jakin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behar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gauzarik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garrantzitsuena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 ezin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duzula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B0F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</a:t>
            </a:r>
            <a:r>
              <a:rPr lang="es-ES" sz="2400" b="0" i="0" dirty="0">
                <a:solidFill>
                  <a:srgbClr val="00B0F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izendatzeko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Adibidez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zuk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ezin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duzu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gisa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 algn="just" fontAlgn="base">
              <a:buNone/>
            </a:pPr>
            <a:br>
              <a:rPr lang="es-ES" sz="2400" dirty="0"/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aldagaiak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6041A618-1D38-B0C7-456A-0B5AB0CEBF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9741" y="4221021"/>
            <a:ext cx="9189377" cy="1663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9232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56702"/>
            <a:ext cx="11266820" cy="4201754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</a:t>
            </a:r>
            <a:r>
              <a:rPr lang="es-E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var</a:t>
            </a:r>
            <a:r>
              <a:rPr lang="es-E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bezala</a:t>
            </a:r>
            <a:r>
              <a:rPr lang="es-E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definitzen</a:t>
            </a:r>
            <a:r>
              <a:rPr lang="es-E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badugu</a:t>
            </a:r>
            <a:r>
              <a:rPr lang="es-E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aldagaiari</a:t>
            </a:r>
            <a:r>
              <a:rPr lang="es-E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nahi</a:t>
            </a:r>
            <a:r>
              <a:rPr lang="es-E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beste</a:t>
            </a:r>
            <a:r>
              <a:rPr lang="es-E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alditan</a:t>
            </a:r>
            <a:r>
              <a:rPr lang="es-E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berresleitu</a:t>
            </a:r>
            <a:r>
              <a:rPr lang="es-E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ahal izango </a:t>
            </a:r>
            <a:r>
              <a:rPr lang="es-ES" sz="2400" b="0" i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diogu</a:t>
            </a:r>
            <a:r>
              <a:rPr lang="es-E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balio</a:t>
            </a:r>
            <a:r>
              <a:rPr lang="es-E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0" indent="0" algn="just" fontAlgn="base">
              <a:buNone/>
            </a:pPr>
            <a:endParaRPr lang="es-E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berresleitzen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guk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gako-hitza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berriro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beharrik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lehen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lerroan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deklaratu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baitzen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br>
              <a:rPr lang="es-ES" sz="2400" dirty="0"/>
            </a:br>
            <a:endParaRPr lang="es-E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Aldagaiak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berresleitzea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48CA84C-1DF9-F080-5A02-DADB7E4FE9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7702" y="3429000"/>
            <a:ext cx="1976596" cy="945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1037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56702"/>
            <a:ext cx="11266820" cy="4201754"/>
          </a:xfrm>
        </p:spPr>
        <p:txBody>
          <a:bodyPr>
            <a:noAutofit/>
          </a:bodyPr>
          <a:lstStyle/>
          <a:p>
            <a:pPr marL="0" indent="0" algn="l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Kotlinen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programatzen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dugunean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, une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batzuetan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dugu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nahi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aldagai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aldatzea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.</a:t>
            </a:r>
          </a:p>
          <a:p>
            <a:pPr marL="0" indent="0">
              <a:buNone/>
            </a:pPr>
            <a:br>
              <a:rPr lang="es-ES" sz="2400" dirty="0"/>
            </a:br>
            <a:endParaRPr lang="es-E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1113589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Berresleitu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ezin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diren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aldagaiak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FB01FEF7-390D-955F-050A-350C78BED7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35" y="3131584"/>
            <a:ext cx="2149026" cy="2651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6547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56702"/>
            <a:ext cx="11266820" cy="4201754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Kasu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horietan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var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-ekin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deklaratu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ordez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val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ekin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deklaratzen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duzu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honela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 algn="just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Orain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berriz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esleitu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nahi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baduzu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errore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izango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duzu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 algn="just">
              <a:buNone/>
            </a:pPr>
            <a:endParaRPr lang="es-E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1113589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Berresleitu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ezin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diren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aldagaiak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8C9A3DC-D292-9DA3-E13B-7F8C4CA21E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785" y="3103485"/>
            <a:ext cx="2363525" cy="65103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F33280BC-15B9-7AE7-A548-5A679D7F65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6594" y="5032555"/>
            <a:ext cx="7398812" cy="1423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1889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590" y="3143883"/>
            <a:ext cx="11266820" cy="1893565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Zure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val-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ekin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adieraztea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modu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egokia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behar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litzatekeen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zerbaiten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balioa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duzula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bermatzeko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Izan ere,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ideia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beti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val-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arekin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hastea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behar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aldatzea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endParaRPr lang="es-E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1113589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Berresleitu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ezin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diren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aldagaiak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21612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56702"/>
            <a:ext cx="11266820" cy="4201754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Batzuetan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hitz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baino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gehiago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behar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izaten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identifikatzako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Kotlinen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ohitura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lehen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hitza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letra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xehez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hastea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gainerako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hitzak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maiuskulaz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egitea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hemen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erakusten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bezala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endParaRPr lang="es-E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1113589"/>
            <a:ext cx="11133056" cy="706964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Aldagaiak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izendatu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F8BA7DD-B393-B922-AFFE-980A2073EF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1413" y="3718847"/>
            <a:ext cx="5286034" cy="738732"/>
          </a:xfrm>
          <a:prstGeom prst="rect">
            <a:avLst/>
          </a:prstGeom>
        </p:spPr>
      </p:pic>
      <p:sp>
        <p:nvSpPr>
          <p:cNvPr id="8" name="Nube 7">
            <a:extLst>
              <a:ext uri="{FF2B5EF4-FFF2-40B4-BE49-F238E27FC236}">
                <a16:creationId xmlns:a16="http://schemas.microsoft.com/office/drawing/2014/main" id="{4A512A16-710E-4688-ECE1-E1BB9C2E7838}"/>
              </a:ext>
            </a:extLst>
          </p:cNvPr>
          <p:cNvSpPr/>
          <p:nvPr/>
        </p:nvSpPr>
        <p:spPr>
          <a:xfrm>
            <a:off x="527902" y="4622800"/>
            <a:ext cx="10648098" cy="2128913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 fontAlgn="base"/>
            <a:br>
              <a:rPr lang="es-ES" dirty="0"/>
            </a:br>
            <a:br>
              <a:rPr lang="es-E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Ideia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ona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 zure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kodea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zure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taldeko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programatzaileen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antzera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idaztea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;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norbaitek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kodea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begiratzen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duenean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arazorik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izateko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ulertzeko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br>
              <a:rPr lang="es-ES" dirty="0"/>
            </a:b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115398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599948"/>
            <a:ext cx="11266820" cy="4201754"/>
          </a:xfrm>
        </p:spPr>
        <p:txBody>
          <a:bodyPr>
            <a:noAutofit/>
          </a:bodyPr>
          <a:lstStyle/>
          <a:p>
            <a:pPr marL="0" indent="0" algn="l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l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l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Orain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arte, 5.2 eta 3.14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balioak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baino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ditugu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esleitu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 zerbait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konplexuagoa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esleitzen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lehen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aldia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2* pi* radio.</a:t>
            </a: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Kotlinek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ikusten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duenean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emaitza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kalkulatzen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guretzat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Erradioa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bider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2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aldiz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pi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biderkatzen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 eta,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ondoren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emaitza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hartzen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zirkunferentzia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izeneko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aldagaiari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esleitzen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dio.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Kasu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honetan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(5.2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erradioarekin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zirkunferentzia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32.656koa da.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1113589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Expresioak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eta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adierazpenak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4568B66-5791-3616-F4A0-B149D79A46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205" y="2300715"/>
            <a:ext cx="4707343" cy="1628606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64BE9593-2C75-F482-F23C-6677575F3A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3615" y="2300715"/>
            <a:ext cx="1771401" cy="1856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6742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599948"/>
            <a:ext cx="11266820" cy="4201754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 fontAlgn="base"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Aldagai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hauek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kontuan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izanda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erradioa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eta pi-k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puntu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hamartar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duten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zenbakiak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irudikatzen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dituzte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eta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Kotlin-ek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Double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deitzen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dion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tipo bat da.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Nahi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baduzu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Kotlini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aldagaiaren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mota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zuk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zeuk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ere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diezaiokezu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honela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1113589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Motak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: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Balio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mota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desberdinak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575F741F-0F77-69BA-7215-84975E5E5D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8727" y="2506771"/>
            <a:ext cx="2651406" cy="92222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6079DFDE-FA64-45DC-6352-6862B90EB3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2826" y="5018756"/>
            <a:ext cx="3966347" cy="1128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7243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438400"/>
            <a:ext cx="11266820" cy="4363302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egiten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mota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esplizituki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zehazten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Askotan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egin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behar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Kotlinek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ahalik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ondoen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egiten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esleitu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diogun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horretan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oinarritutako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tipoa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inferitzeko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Prozesu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moten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inferentzia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esaten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zaio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Orduan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idazten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...</a:t>
            </a:r>
          </a:p>
          <a:p>
            <a:pPr marL="0" indent="0" algn="just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...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orduan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Kotlini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esaten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diogu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5.2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Double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dela,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automatikoki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Double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mota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erradioan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1113589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Motak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: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Balio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mota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desberdinak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E7100F1-9853-2735-D3AD-45F000CF79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029" y="4620051"/>
            <a:ext cx="2427035" cy="615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1007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ube 8">
            <a:extLst>
              <a:ext uri="{FF2B5EF4-FFF2-40B4-BE49-F238E27FC236}">
                <a16:creationId xmlns:a16="http://schemas.microsoft.com/office/drawing/2014/main" id="{46FE5F32-97BE-A43A-875A-7DA167036481}"/>
              </a:ext>
            </a:extLst>
          </p:cNvPr>
          <p:cNvSpPr/>
          <p:nvPr/>
        </p:nvSpPr>
        <p:spPr>
          <a:xfrm>
            <a:off x="287867" y="1113590"/>
            <a:ext cx="11373089" cy="5638124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 fontAlgn="base"/>
            <a:br>
              <a:rPr lang="es-ES" dirty="0"/>
            </a:br>
            <a:br>
              <a:rPr lang="es-ES" sz="2400" dirty="0"/>
            </a:br>
            <a:br>
              <a:rPr lang="es-ES" sz="2400" dirty="0"/>
            </a:b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Normalean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erosoa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Kotlinek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mota-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inferentzia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gugatik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egitea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baina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batzuetan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atsegina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ere izango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litzateke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inferitzen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den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tipoa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ikustea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Kotlinek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ondorioztatzen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duena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ikusteko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IntelliJk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eta Android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Studiok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Dokumentazio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Azkarra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izeneko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ezaugarri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du.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Testu-kurtsorea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aldagaiaren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izenean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jartzen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eta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teklatuaren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metodo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laburtua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sakatzen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du.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Ctrl+Q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Windows-en eta Linux-en.</a:t>
            </a:r>
          </a:p>
          <a:p>
            <a:pPr algn="just" fontAlgn="base"/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1E7D0FBA-EBEB-9846-99F6-1E57DF719E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7594" y="5207787"/>
            <a:ext cx="4633362" cy="138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155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438400"/>
            <a:ext cx="11266820" cy="4363302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Orain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arte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puntu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hamartarra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zenbakiak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ikusi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ditugu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hala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5.2 eta 3.14.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Baina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puntu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hamartarra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zenbaki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ere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dezakegu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5 eta 3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esaterako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b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Zenbaki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mota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horiei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Integerrak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deitzen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zaie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Kotlinen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B0F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bezala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ezagutzen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modu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laburtuan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hemen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Integer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sortzeko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moduaren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adibide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bat:</a:t>
            </a:r>
          </a:p>
          <a:p>
            <a:pPr marL="0" indent="0" algn="just"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1113589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Integerrak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(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osoak-int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)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3DA825B-7846-0CCD-A355-9FD7AA416B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3835" y="4452180"/>
            <a:ext cx="6981189" cy="1000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6627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438400"/>
            <a:ext cx="11266820" cy="4363302"/>
          </a:xfrm>
        </p:spPr>
        <p:txBody>
          <a:bodyPr>
            <a:noAutofit/>
          </a:bodyPr>
          <a:lstStyle/>
          <a:p>
            <a:pPr marL="0" indent="0" algn="l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Batzuetan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zuk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nahi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ditugun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piztua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itzalia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egia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gezurra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etab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Izango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dira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asu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horietan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B0F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Boolean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motako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behar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1113589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Boolearrak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(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Boolean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)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975EC7A-7488-F93F-731E-5F76BF47CA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1157" y="4102922"/>
            <a:ext cx="6689686" cy="1044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1008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438400"/>
            <a:ext cx="11266820" cy="4363302"/>
          </a:xfrm>
        </p:spPr>
        <p:txBody>
          <a:bodyPr>
            <a:noAutofit/>
          </a:bodyPr>
          <a:lstStyle/>
          <a:p>
            <a:pPr algn="just" fontAlgn="base"/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Guk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ere gorde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dezakegu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testua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batean.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Programatzaile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batentzat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katea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karaktere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pila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delako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hala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letrak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zenbakiak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sinbolo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"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elkartuak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Kotlinen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kateetarako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motari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B0F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String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deitzen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zaio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guk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String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sor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dezakezu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honela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1113589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String-ak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(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Kateak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)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0DF54E2-07A3-E588-DF01-9C6E8C47E8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7798" y="4279037"/>
            <a:ext cx="9233264" cy="919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8038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438400"/>
            <a:ext cx="11266820" cy="4363302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Guk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ere gorde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dezakegu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testua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batean.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Programatzaile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batentzat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katea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karaktere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pila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delako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hala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letrak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zenbakiak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sinbolo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"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elkartuak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Kotlinen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kateetarako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motari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B0F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String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deitzen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zaio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guk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String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sor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dezakezu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honela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algn="just" fontAlgn="base"/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fontAlgn="base"/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fontAlgn="base"/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Hauek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mota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ohikoenak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Irakasgai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honekin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jarraitu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ahala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ikusiko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klaseak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esaterako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ikusi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ditugun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oinarrizko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mota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horietan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oinarrituta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 fontAlgn="base"/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1113589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String-ak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(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Kateak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)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0DF54E2-07A3-E588-DF01-9C6E8C47E8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7798" y="4279037"/>
            <a:ext cx="9233264" cy="919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9250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438400"/>
            <a:ext cx="11266820" cy="4363302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Erreza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zirkulu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zirkunferentzia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kalkulatzea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ondorengo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formularekin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 algn="just" fontAlgn="base">
              <a:buNone/>
            </a:pPr>
            <a:r>
              <a:rPr lang="es-ES" sz="2400" b="1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Zirkunferentzia</a:t>
            </a:r>
            <a:r>
              <a:rPr lang="es-ES" sz="2400" b="1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= 2 x pi x r</a:t>
            </a: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hemen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kalkulu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egiteko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idatzi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beharreko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Kotlin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kodea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1113589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E726973-E02F-29A8-EBCE-F4F381CF92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908" y="4380197"/>
            <a:ext cx="6796183" cy="1529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5198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438400"/>
            <a:ext cx="11266820" cy="4363302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Kode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honek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5,2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erradioko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zirkulu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zirkunferentzia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kalkulatzen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Jakina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zirkulu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guztiek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dute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5,2ko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erradioa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!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gertatzen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 6,7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10,0ko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erradioa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zirkulu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zirkunferentzia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zehaztu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nahi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badugu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1113589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EF998C9-E823-0492-7E61-065EB17DE4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0998" y="4174814"/>
            <a:ext cx="5509737" cy="2301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5200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438400"/>
            <a:ext cx="11266820" cy="4363302"/>
          </a:xfrm>
        </p:spPr>
        <p:txBody>
          <a:bodyPr>
            <a:noAutofit/>
          </a:bodyPr>
          <a:lstStyle/>
          <a:p>
            <a:pPr marL="0" indent="0" algn="l" fontAlgn="base">
              <a:buNone/>
            </a:pP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Bueno,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ekuazio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asko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idatz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genitzake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:</a:t>
            </a: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1113589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CF5E73F-A3A3-8114-8C8D-4657978B8C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6807" y="3162210"/>
            <a:ext cx="8175246" cy="3492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3621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933478"/>
            <a:ext cx="11266820" cy="2810933"/>
          </a:xfrm>
        </p:spPr>
        <p:txBody>
          <a:bodyPr>
            <a:noAutofit/>
          </a:bodyPr>
          <a:lstStyle/>
          <a:p>
            <a:pPr marL="0" indent="0" algn="ctr" fontAlgn="base">
              <a:buNone/>
            </a:pPr>
            <a:r>
              <a:rPr lang="es-ES" sz="6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Honek</a:t>
            </a:r>
            <a:r>
              <a:rPr lang="es-ES" sz="6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6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funtzionatzen</a:t>
            </a:r>
            <a:r>
              <a:rPr lang="es-ES" sz="6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 duda </a:t>
            </a:r>
            <a:r>
              <a:rPr lang="es-ES" sz="6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barik</a:t>
            </a:r>
            <a:r>
              <a:rPr lang="es-ES" sz="6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6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baina</a:t>
            </a:r>
            <a:r>
              <a:rPr lang="es-ES" sz="6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6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programatzeko</a:t>
            </a:r>
            <a:r>
              <a:rPr lang="es-ES" sz="6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er</a:t>
            </a:r>
            <a:r>
              <a:rPr lang="es-ES" sz="6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s-ES" sz="60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egokiena</a:t>
            </a:r>
            <a:r>
              <a:rPr lang="es-ES" sz="6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da?</a:t>
            </a:r>
            <a:endParaRPr lang="es-ES" sz="60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1113589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97942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404533"/>
            <a:ext cx="11266820" cy="4317999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Kode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zati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toki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ezberdinetan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bikoizketa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esaten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Kasu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gehienetan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kode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bikoiztua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txarra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arrazoi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hauengatik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fontAlgn="base"/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Gauza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askotan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tipifikatzen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lehenago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geroago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gaizki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idatziko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kasu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batean. </a:t>
            </a:r>
          </a:p>
          <a:p>
            <a:pPr algn="just" fontAlgn="base"/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Ekuazioa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nahi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badugu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idatzi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genuen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leku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guztiak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bilatu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beharko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ditugu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horietako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bakoitza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eguneratzen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ziurtatu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 fontAlgn="base"/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Zailagoa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izan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daiteke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irakurtzeko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gure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begiek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pantailan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behin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berriz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kode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idatzita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ikusten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dutenean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1113589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9360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404533"/>
            <a:ext cx="11266820" cy="4317999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Gure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kodea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aldatuko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2*pi*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erradioa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behin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bakarrik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ikus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dezagun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eta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orduan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hori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erabili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edozein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zirkuluren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zirkunferentzia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kalkulatu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Bestela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esanda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bikoizketa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ezabatuko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dogu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!</a:t>
            </a:r>
          </a:p>
          <a:p>
            <a:pPr marL="0" indent="0" algn="just" fontAlgn="base"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2* pi*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erradioa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hiru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aldiz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idatzi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dugun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arren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aldiro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aldatzen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dugun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balio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bakarra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erradioa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Beste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era batera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esanda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2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inoiz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aldatu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eta pi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inoiz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aldatu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aldi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bakoitzean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3.14 da).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Baina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erradioaren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balioa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aldi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bakoitzean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ezberdina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izan da: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lehenik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5.2,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gero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6.7 eta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gero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10.0.</a:t>
            </a:r>
          </a:p>
          <a:p>
            <a:pPr marL="0" indent="0" algn="just" fontAlgn="base"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Erradioa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aldatzen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den gauza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bakarra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denez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primerakoa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litzateke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erradioa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zirkunferentzia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bihurtzea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Bestela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esanda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nolakoa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izango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litzateke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makina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batean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erradioa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sartuko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balitz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zirkufenrentzia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itzuli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pPr marL="0" indent="0">
              <a:buNone/>
            </a:pP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1113589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54828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1113589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70D03E5A-47B5-2618-FB3F-8691A8A24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817" y="2502210"/>
            <a:ext cx="10242366" cy="3915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9913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3111498"/>
            <a:ext cx="11266820" cy="2235200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Erradioa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alde batean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jartzen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dugunez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honi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sarrera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geniezaioke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zirkunferentzia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beste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aldetik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ateratzen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denez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irteera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geniezaioke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b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Orain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makina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sortu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behar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baina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sor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dezakegu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ordez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horrek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nahi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egingo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erradio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emango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diogu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zirkunferentzia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itzuliko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.</a:t>
            </a: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1113589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36561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1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b="1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1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sortzen</a:t>
            </a:r>
            <a:endParaRPr lang="es-ES" sz="2400" b="1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Hemen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Kotlinen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adierazioko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litzatekeen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erakusten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 algn="just"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1113589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oinarrizko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kontzeptuak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BBA016C-73BC-AF1D-A478-25EC7099B4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0175" y="3812686"/>
            <a:ext cx="9334745" cy="193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8218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0" indent="0" algn="l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Informazio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asko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dirudi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baina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zati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gutxi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daude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ulerterrazak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dira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.</a:t>
            </a: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457200" indent="-457200" algn="l" fontAlgn="base">
              <a:buFont typeface="+mj-lt"/>
              <a:buAutoNum type="arabicPeriod"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Lehenik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behin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,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Verdana" panose="020B0604030504040204" pitchFamily="34" charset="0"/>
              </a:rPr>
              <a:t>fun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hitz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erreserbatua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da (</a:t>
            </a:r>
            <a:r>
              <a:rPr lang="es-ES" sz="2400" b="0" i="0" dirty="0">
                <a:solidFill>
                  <a:srgbClr val="00B0F0"/>
                </a:solidFill>
                <a:effectLst/>
                <a:latin typeface="Verdana" panose="020B0604030504040204" pitchFamily="34" charset="0"/>
              </a:rPr>
              <a:t>val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eta </a:t>
            </a:r>
            <a:r>
              <a:rPr lang="es-ES" sz="2400" b="0" i="0" dirty="0" err="1">
                <a:solidFill>
                  <a:srgbClr val="00B0F0"/>
                </a:solidFill>
                <a:effectLst/>
                <a:latin typeface="Verdana" panose="020B0604030504040204" pitchFamily="34" charset="0"/>
              </a:rPr>
              <a:t>var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hitz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erreserbatuak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diren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moduan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).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Horrek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esaten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dio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Kotlini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funtzio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idazten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zarela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.</a:t>
            </a:r>
          </a:p>
          <a:p>
            <a:pPr marL="457200" indent="-457200" algn="l" fontAlgn="base">
              <a:buFont typeface="+mj-lt"/>
              <a:buAutoNum type="arabicPeriod"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Jarraian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,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Verdana" panose="020B0604030504040204" pitchFamily="34" charset="0"/>
              </a:rPr>
              <a:t>zirkunferentzia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chemeClr val="tx1"/>
                </a:solidFill>
                <a:effectLst/>
                <a:latin typeface="Verdana" panose="020B0604030504040204" pitchFamily="34" charset="0"/>
              </a:rPr>
              <a:t>funtzioaren</a:t>
            </a:r>
            <a:r>
              <a:rPr lang="es-ES" sz="2400" b="0" i="0" dirty="0">
                <a:solidFill>
                  <a:schemeClr val="tx1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chemeClr val="tx1"/>
                </a:solidFill>
                <a:effectLst/>
                <a:latin typeface="Verdana" panose="020B0604030504040204" pitchFamily="34" charset="0"/>
              </a:rPr>
              <a:t>izena</a:t>
            </a:r>
            <a:r>
              <a:rPr lang="es-ES" sz="2400" b="0" i="0" dirty="0">
                <a:solidFill>
                  <a:schemeClr val="tx1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da.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Gure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funtzioa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edozein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izenekin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izenda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genezake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baina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zirkunferentzia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aukeratu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dugu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.</a:t>
            </a: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457200" indent="-457200" algn="l" fontAlgn="base">
              <a:buFont typeface="+mj-lt"/>
              <a:buAutoNum type="arabicPeriod"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Ondoren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, (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Verdana" panose="020B0604030504040204" pitchFamily="34" charset="0"/>
              </a:rPr>
              <a:t>radio: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Verdana" panose="020B0604030504040204" pitchFamily="34" charset="0"/>
              </a:rPr>
              <a:t>Double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)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funtzioaren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prametroak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adieraziko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dira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sarrerako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balioa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kasu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hontan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, 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Verdana" panose="020B0604030504040204" pitchFamily="34" charset="0"/>
              </a:rPr>
              <a:t>radio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izenekoa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, eta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Verdana" panose="020B0604030504040204" pitchFamily="34" charset="0"/>
              </a:rPr>
              <a:t>Double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motakoa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izango da.</a:t>
            </a: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1113589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oinarrizko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kontzeptuak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77393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457200" indent="-457200" fontAlgn="base">
              <a:buFont typeface="+mj-lt"/>
              <a:buAutoNum type="arabicPeriod" startAt="4"/>
            </a:pPr>
            <a:r>
              <a:rPr lang="es-ES" sz="2400" dirty="0" err="1">
                <a:solidFill>
                  <a:srgbClr val="000000"/>
                </a:solidFill>
                <a:latin typeface="Verdana" panose="020B0604030504040204" pitchFamily="34" charset="0"/>
              </a:rPr>
              <a:t>Ondorengo</a:t>
            </a:r>
            <a:r>
              <a:rPr lang="es-ES" sz="2400" dirty="0">
                <a:solidFill>
                  <a:srgbClr val="000000"/>
                </a:solidFill>
                <a:latin typeface="Verdana" panose="020B0604030504040204" pitchFamily="34" charset="0"/>
              </a:rPr>
              <a:t>, 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Verdana" panose="020B0604030504040204" pitchFamily="34" charset="0"/>
              </a:rPr>
              <a:t>: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Verdana" panose="020B0604030504040204" pitchFamily="34" charset="0"/>
              </a:rPr>
              <a:t>Double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Verdana" panose="020B060403050404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Verdana" panose="020B0604030504040204" pitchFamily="34" charset="0"/>
              </a:rPr>
              <a:t>parentesien</a:t>
            </a:r>
            <a:r>
              <a:rPr lang="es-ES" sz="2400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Verdana" panose="020B0604030504040204" pitchFamily="34" charset="0"/>
              </a:rPr>
              <a:t>ondoren</a:t>
            </a:r>
            <a:r>
              <a:rPr lang="es-ES" sz="2400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Verdana" panose="020B0604030504040204" pitchFamily="34" charset="0"/>
              </a:rPr>
              <a:t>funtzioaren</a:t>
            </a:r>
            <a:r>
              <a:rPr lang="es-ES" sz="2400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Verdana" panose="020B0604030504040204" pitchFamily="34" charset="0"/>
              </a:rPr>
              <a:t>irteera</a:t>
            </a:r>
            <a:r>
              <a:rPr lang="es-ES" sz="2400" dirty="0">
                <a:solidFill>
                  <a:srgbClr val="000000"/>
                </a:solidFill>
                <a:latin typeface="Verdana" panose="020B0604030504040204" pitchFamily="34" charset="0"/>
              </a:rPr>
              <a:t> mota </a:t>
            </a:r>
            <a:r>
              <a:rPr lang="es-ES" sz="2400" dirty="0" err="1">
                <a:solidFill>
                  <a:srgbClr val="000000"/>
                </a:solidFill>
                <a:latin typeface="Verdana" panose="020B0604030504040204" pitchFamily="34" charset="0"/>
              </a:rPr>
              <a:t>adierazten</a:t>
            </a:r>
            <a:r>
              <a:rPr lang="es-ES" sz="2400" dirty="0">
                <a:solidFill>
                  <a:srgbClr val="000000"/>
                </a:solidFill>
                <a:latin typeface="Verdana" panose="020B0604030504040204" pitchFamily="34" charset="0"/>
              </a:rPr>
              <a:t> du, </a:t>
            </a:r>
            <a:r>
              <a:rPr lang="es-ES" sz="2400" dirty="0" err="1">
                <a:solidFill>
                  <a:srgbClr val="000000"/>
                </a:solidFill>
                <a:latin typeface="Verdana" panose="020B0604030504040204" pitchFamily="34" charset="0"/>
              </a:rPr>
              <a:t>kasu</a:t>
            </a:r>
            <a:r>
              <a:rPr lang="es-ES" sz="2400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Verdana" panose="020B0604030504040204" pitchFamily="34" charset="0"/>
              </a:rPr>
              <a:t>honetan</a:t>
            </a:r>
            <a:r>
              <a:rPr lang="es-ES" sz="2400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Verdana" panose="020B0604030504040204" pitchFamily="34" charset="0"/>
              </a:rPr>
              <a:t>Double</a:t>
            </a:r>
            <a:r>
              <a:rPr lang="es-ES" sz="2400" dirty="0">
                <a:solidFill>
                  <a:srgbClr val="000000"/>
                </a:solidFill>
                <a:latin typeface="Verdana" panose="020B0604030504040204" pitchFamily="34" charset="0"/>
              </a:rPr>
              <a:t>. </a:t>
            </a:r>
            <a:r>
              <a:rPr lang="es-ES" sz="2400" dirty="0" err="1">
                <a:solidFill>
                  <a:srgbClr val="000000"/>
                </a:solidFill>
                <a:latin typeface="Verdana" panose="020B0604030504040204" pitchFamily="34" charset="0"/>
              </a:rPr>
              <a:t>Funtzioaren</a:t>
            </a:r>
            <a:r>
              <a:rPr lang="es-ES" sz="2400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Verdana" panose="020B0604030504040204" pitchFamily="34" charset="0"/>
              </a:rPr>
              <a:t>itzulera</a:t>
            </a:r>
            <a:r>
              <a:rPr lang="es-ES" sz="2400" dirty="0">
                <a:solidFill>
                  <a:srgbClr val="000000"/>
                </a:solidFill>
                <a:latin typeface="Verdana" panose="020B0604030504040204" pitchFamily="34" charset="0"/>
              </a:rPr>
              <a:t>-mota </a:t>
            </a:r>
            <a:r>
              <a:rPr lang="es-ES" sz="2400" dirty="0" err="1">
                <a:solidFill>
                  <a:srgbClr val="000000"/>
                </a:solidFill>
                <a:latin typeface="Verdana" panose="020B0604030504040204" pitchFamily="34" charset="0"/>
              </a:rPr>
              <a:t>deitzen</a:t>
            </a:r>
            <a:r>
              <a:rPr lang="es-ES" sz="2400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Verdana" panose="020B0604030504040204" pitchFamily="34" charset="0"/>
              </a:rPr>
              <a:t>zaio</a:t>
            </a:r>
            <a:r>
              <a:rPr lang="es-ES" sz="2400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Verdana" panose="020B0604030504040204" pitchFamily="34" charset="0"/>
              </a:rPr>
              <a:t>horri</a:t>
            </a:r>
            <a:r>
              <a:rPr lang="es-ES" sz="2400" dirty="0">
                <a:solidFill>
                  <a:srgbClr val="000000"/>
                </a:solidFill>
                <a:latin typeface="Verdana" panose="020B0604030504040204" pitchFamily="34" charset="0"/>
              </a:rPr>
              <a:t>.</a:t>
            </a:r>
          </a:p>
          <a:p>
            <a:pPr marL="457200" indent="-457200" fontAlgn="base">
              <a:buFont typeface="+mj-lt"/>
              <a:buAutoNum type="arabicPeriod" startAt="4"/>
            </a:pPr>
            <a:r>
              <a:rPr lang="es-ES" sz="2400" dirty="0">
                <a:solidFill>
                  <a:srgbClr val="000000"/>
                </a:solidFill>
                <a:latin typeface="Verdana" panose="020B0604030504040204" pitchFamily="34" charset="0"/>
              </a:rPr>
              <a:t>Eta </a:t>
            </a:r>
            <a:r>
              <a:rPr lang="es-ES" sz="2400" dirty="0" err="1">
                <a:solidFill>
                  <a:srgbClr val="000000"/>
                </a:solidFill>
                <a:latin typeface="Verdana" panose="020B0604030504040204" pitchFamily="34" charset="0"/>
              </a:rPr>
              <a:t>azkenik</a:t>
            </a:r>
            <a:r>
              <a:rPr lang="es-ES" sz="2400" dirty="0">
                <a:solidFill>
                  <a:srgbClr val="000000"/>
                </a:solidFill>
                <a:latin typeface="Verdana" panose="020B0604030504040204" pitchFamily="34" charset="0"/>
              </a:rPr>
              <a:t>, 2* pi* radio, </a:t>
            </a:r>
            <a:r>
              <a:rPr lang="es-ES" sz="2400" dirty="0" err="1">
                <a:solidFill>
                  <a:srgbClr val="000000"/>
                </a:solidFill>
                <a:latin typeface="Verdana" panose="020B0604030504040204" pitchFamily="34" charset="0"/>
              </a:rPr>
              <a:t>funtzioaren</a:t>
            </a:r>
            <a:r>
              <a:rPr lang="es-ES" sz="2400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Verdana" panose="020B0604030504040204" pitchFamily="34" charset="0"/>
              </a:rPr>
              <a:t>gorputza</a:t>
            </a:r>
            <a:r>
              <a:rPr lang="es-ES" sz="2400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Verdana" panose="020B0604030504040204" pitchFamily="34" charset="0"/>
              </a:rPr>
              <a:t>deitzen</a:t>
            </a:r>
            <a:r>
              <a:rPr lang="es-ES" sz="2400" dirty="0">
                <a:solidFill>
                  <a:srgbClr val="000000"/>
                </a:solidFill>
                <a:latin typeface="Verdana" panose="020B0604030504040204" pitchFamily="34" charset="0"/>
              </a:rPr>
              <a:t> da. </a:t>
            </a:r>
            <a:r>
              <a:rPr lang="es-ES" sz="2400" dirty="0" err="1">
                <a:solidFill>
                  <a:srgbClr val="000000"/>
                </a:solidFill>
                <a:latin typeface="Verdana" panose="020B0604030504040204" pitchFamily="34" charset="0"/>
              </a:rPr>
              <a:t>Eragiketa</a:t>
            </a:r>
            <a:r>
              <a:rPr lang="es-ES" sz="2400" dirty="0">
                <a:solidFill>
                  <a:srgbClr val="000000"/>
                </a:solidFill>
                <a:latin typeface="Verdana" panose="020B0604030504040204" pitchFamily="34" charset="0"/>
              </a:rPr>
              <a:t> horren </a:t>
            </a:r>
            <a:r>
              <a:rPr lang="es-ES" sz="2400" dirty="0" err="1">
                <a:solidFill>
                  <a:srgbClr val="000000"/>
                </a:solidFill>
                <a:latin typeface="Verdana" panose="020B0604030504040204" pitchFamily="34" charset="0"/>
              </a:rPr>
              <a:t>emaitza</a:t>
            </a:r>
            <a:r>
              <a:rPr lang="es-ES" sz="2400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Verdana" panose="020B0604030504040204" pitchFamily="34" charset="0"/>
              </a:rPr>
              <a:t>funtzioaren</a:t>
            </a:r>
            <a:r>
              <a:rPr lang="es-ES" sz="2400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Verdana" panose="020B0604030504040204" pitchFamily="34" charset="0"/>
              </a:rPr>
              <a:t>irteera-balioa</a:t>
            </a:r>
            <a:r>
              <a:rPr lang="es-ES" sz="2400" dirty="0">
                <a:solidFill>
                  <a:srgbClr val="000000"/>
                </a:solidFill>
                <a:latin typeface="Verdana" panose="020B0604030504040204" pitchFamily="34" charset="0"/>
              </a:rPr>
              <a:t> izango da. </a:t>
            </a:r>
            <a:r>
              <a:rPr lang="es-ES" sz="2400" dirty="0" err="1">
                <a:solidFill>
                  <a:srgbClr val="000000"/>
                </a:solidFill>
                <a:latin typeface="Verdana" panose="020B0604030504040204" pitchFamily="34" charset="0"/>
              </a:rPr>
              <a:t>Irteera-balioa</a:t>
            </a:r>
            <a:r>
              <a:rPr lang="es-ES" sz="2400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Verdana" panose="020B0604030504040204" pitchFamily="34" charset="0"/>
              </a:rPr>
              <a:t>funtzioaren</a:t>
            </a:r>
            <a:r>
              <a:rPr lang="es-ES" sz="2400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Verdana" panose="020B0604030504040204" pitchFamily="34" charset="0"/>
              </a:rPr>
              <a:t>emaitza</a:t>
            </a:r>
            <a:r>
              <a:rPr lang="es-ES" sz="2400" dirty="0">
                <a:solidFill>
                  <a:srgbClr val="000000"/>
                </a:solidFill>
                <a:latin typeface="Verdana" panose="020B0604030504040204" pitchFamily="34" charset="0"/>
              </a:rPr>
              <a:t> da. </a:t>
            </a:r>
            <a:r>
              <a:rPr lang="es-ES" sz="2400" dirty="0" err="1">
                <a:solidFill>
                  <a:srgbClr val="000000"/>
                </a:solidFill>
                <a:latin typeface="Verdana" panose="020B0604030504040204" pitchFamily="34" charset="0"/>
              </a:rPr>
              <a:t>Gure</a:t>
            </a:r>
            <a:r>
              <a:rPr lang="es-ES" sz="2400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Verdana" panose="020B0604030504040204" pitchFamily="34" charset="0"/>
              </a:rPr>
              <a:t>makinatik</a:t>
            </a:r>
            <a:r>
              <a:rPr lang="es-ES" sz="2400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Verdana" panose="020B0604030504040204" pitchFamily="34" charset="0"/>
              </a:rPr>
              <a:t>ateratzen</a:t>
            </a:r>
            <a:r>
              <a:rPr lang="es-ES" sz="2400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Verdana" panose="020B0604030504040204" pitchFamily="34" charset="0"/>
              </a:rPr>
              <a:t>dena</a:t>
            </a:r>
            <a:r>
              <a:rPr lang="es-ES" sz="2400" dirty="0">
                <a:solidFill>
                  <a:srgbClr val="000000"/>
                </a:solidFill>
                <a:latin typeface="Verdana" panose="020B0604030504040204" pitchFamily="34" charset="0"/>
              </a:rPr>
              <a:t> da. </a:t>
            </a:r>
            <a:r>
              <a:rPr lang="es-ES" sz="2400" dirty="0" err="1">
                <a:solidFill>
                  <a:srgbClr val="000000"/>
                </a:solidFill>
                <a:latin typeface="Verdana" panose="020B0604030504040204" pitchFamily="34" charset="0"/>
              </a:rPr>
              <a:t>Kontuan</a:t>
            </a:r>
            <a:r>
              <a:rPr lang="es-ES" sz="2400" dirty="0">
                <a:solidFill>
                  <a:srgbClr val="000000"/>
                </a:solidFill>
                <a:latin typeface="Verdana" panose="020B0604030504040204" pitchFamily="34" charset="0"/>
              </a:rPr>
              <a:t> izan </a:t>
            </a:r>
            <a:r>
              <a:rPr lang="es-ES" sz="2400" dirty="0" err="1">
                <a:solidFill>
                  <a:srgbClr val="000000"/>
                </a:solidFill>
                <a:latin typeface="Verdana" panose="020B0604030504040204" pitchFamily="34" charset="0"/>
              </a:rPr>
              <a:t>behar</a:t>
            </a:r>
            <a:r>
              <a:rPr lang="es-ES" sz="2400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Verdana" panose="020B0604030504040204" pitchFamily="34" charset="0"/>
              </a:rPr>
              <a:t>dugu</a:t>
            </a:r>
            <a:r>
              <a:rPr lang="es-ES" sz="2400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Verdana" panose="020B0604030504040204" pitchFamily="34" charset="0"/>
              </a:rPr>
              <a:t>itzulera</a:t>
            </a:r>
            <a:r>
              <a:rPr lang="es-ES" sz="2400" dirty="0">
                <a:solidFill>
                  <a:srgbClr val="000000"/>
                </a:solidFill>
                <a:latin typeface="Verdana" panose="020B0604030504040204" pitchFamily="34" charset="0"/>
              </a:rPr>
              <a:t>-mota </a:t>
            </a:r>
            <a:r>
              <a:rPr lang="es-ES" sz="2400" dirty="0" err="1">
                <a:solidFill>
                  <a:srgbClr val="000000"/>
                </a:solidFill>
                <a:latin typeface="Verdana" panose="020B0604030504040204" pitchFamily="34" charset="0"/>
              </a:rPr>
              <a:t>eragiketaren</a:t>
            </a:r>
            <a:r>
              <a:rPr lang="es-ES" sz="2400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Verdana" panose="020B0604030504040204" pitchFamily="34" charset="0"/>
              </a:rPr>
              <a:t>itzulera</a:t>
            </a:r>
            <a:r>
              <a:rPr lang="es-ES" sz="2400" dirty="0">
                <a:solidFill>
                  <a:srgbClr val="000000"/>
                </a:solidFill>
                <a:latin typeface="Verdana" panose="020B0604030504040204" pitchFamily="34" charset="0"/>
              </a:rPr>
              <a:t>-mota </a:t>
            </a:r>
            <a:r>
              <a:rPr lang="es-ES" sz="2400" dirty="0" err="1">
                <a:solidFill>
                  <a:srgbClr val="000000"/>
                </a:solidFill>
                <a:latin typeface="Verdana" panose="020B0604030504040204" pitchFamily="34" charset="0"/>
              </a:rPr>
              <a:t>bera</a:t>
            </a:r>
            <a:r>
              <a:rPr lang="es-ES" sz="2400" dirty="0">
                <a:solidFill>
                  <a:srgbClr val="000000"/>
                </a:solidFill>
                <a:latin typeface="Verdana" panose="020B0604030504040204" pitchFamily="34" charset="0"/>
              </a:rPr>
              <a:t> izan </a:t>
            </a:r>
            <a:r>
              <a:rPr lang="es-ES" sz="2400" dirty="0" err="1">
                <a:solidFill>
                  <a:srgbClr val="000000"/>
                </a:solidFill>
                <a:latin typeface="Verdana" panose="020B0604030504040204" pitchFamily="34" charset="0"/>
              </a:rPr>
              <a:t>behar</a:t>
            </a:r>
            <a:r>
              <a:rPr lang="es-ES" sz="2400" dirty="0">
                <a:solidFill>
                  <a:srgbClr val="000000"/>
                </a:solidFill>
                <a:latin typeface="Verdana" panose="020B0604030504040204" pitchFamily="34" charset="0"/>
              </a:rPr>
              <a:t> duela. </a:t>
            </a:r>
          </a:p>
          <a:p>
            <a:pPr marL="0" indent="0" fontAlgn="base">
              <a:buNone/>
            </a:pPr>
            <a:r>
              <a:rPr lang="es-ES" sz="2400" dirty="0" err="1">
                <a:solidFill>
                  <a:srgbClr val="000000"/>
                </a:solidFill>
                <a:latin typeface="Verdana" panose="020B0604030504040204" pitchFamily="34" charset="0"/>
              </a:rPr>
              <a:t>Hurrengo</a:t>
            </a:r>
            <a:r>
              <a:rPr lang="es-ES" sz="2400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Verdana" panose="020B0604030504040204" pitchFamily="34" charset="0"/>
              </a:rPr>
              <a:t>irudian</a:t>
            </a:r>
            <a:r>
              <a:rPr lang="es-ES" sz="2400" dirty="0">
                <a:solidFill>
                  <a:srgbClr val="000000"/>
                </a:solidFill>
                <a:latin typeface="Verdana" panose="020B060403050404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Verdana" panose="020B0604030504040204" pitchFamily="34" charset="0"/>
              </a:rPr>
              <a:t>gure</a:t>
            </a:r>
            <a:r>
              <a:rPr lang="es-ES" sz="2400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Verdana" panose="020B0604030504040204" pitchFamily="34" charset="0"/>
              </a:rPr>
              <a:t>funtzioa</a:t>
            </a:r>
            <a:r>
              <a:rPr lang="es-ES" sz="2400" dirty="0">
                <a:solidFill>
                  <a:srgbClr val="000000"/>
                </a:solidFill>
                <a:latin typeface="Verdana" panose="020B0604030504040204" pitchFamily="34" charset="0"/>
              </a:rPr>
              <a:t> eta </a:t>
            </a:r>
            <a:r>
              <a:rPr lang="es-ES" sz="2400" dirty="0" err="1">
                <a:solidFill>
                  <a:srgbClr val="000000"/>
                </a:solidFill>
                <a:latin typeface="Verdana" panose="020B0604030504040204" pitchFamily="34" charset="0"/>
              </a:rPr>
              <a:t>goian</a:t>
            </a:r>
            <a:r>
              <a:rPr lang="es-ES" sz="2400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Verdana" panose="020B0604030504040204" pitchFamily="34" charset="0"/>
              </a:rPr>
              <a:t>irudikatzen</a:t>
            </a:r>
            <a:r>
              <a:rPr lang="es-ES" sz="2400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Verdana" panose="020B0604030504040204" pitchFamily="34" charset="0"/>
              </a:rPr>
              <a:t>dugun</a:t>
            </a:r>
            <a:r>
              <a:rPr lang="es-ES" sz="2400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Verdana" panose="020B0604030504040204" pitchFamily="34" charset="0"/>
              </a:rPr>
              <a:t>makina</a:t>
            </a:r>
            <a:r>
              <a:rPr lang="es-ES" sz="2400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Verdana" panose="020B0604030504040204" pitchFamily="34" charset="0"/>
              </a:rPr>
              <a:t>alderatzen</a:t>
            </a:r>
            <a:r>
              <a:rPr lang="es-ES" sz="2400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Verdana" panose="020B0604030504040204" pitchFamily="34" charset="0"/>
              </a:rPr>
              <a:t>ditugu</a:t>
            </a:r>
            <a:r>
              <a:rPr lang="es-ES" sz="2400" dirty="0">
                <a:solidFill>
                  <a:srgbClr val="000000"/>
                </a:solidFill>
                <a:latin typeface="Verdana" panose="020B0604030504040204" pitchFamily="34" charset="0"/>
              </a:rPr>
              <a:t>.</a:t>
            </a: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1113589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oinarrizko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kontzeptuak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1355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1113589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oinarrizko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kontzeptuak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3393CD7-EF4F-E5C0-9126-F459CD329A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105" y="2396390"/>
            <a:ext cx="8389790" cy="4317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8730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Lehen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ikusi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dugun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bezala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beti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mota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zehaztu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behar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; horren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ordez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Kotlinek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tipo-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inferentzia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Guk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ere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tipoen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inferentzia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dezakezu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honelako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idazten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ditugunean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Itzulera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-mota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besterik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egiten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honela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ikus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dadin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 algn="just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1113589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oinarrizko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kontzeptuak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157F8D6-EB71-5C85-0E1A-E6BC3D0EF0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7899" y="4397145"/>
            <a:ext cx="8553062" cy="804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96523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1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b="1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bati</a:t>
            </a:r>
            <a:r>
              <a:rPr lang="es-ES" sz="2400" b="1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deitu</a:t>
            </a:r>
            <a:endParaRPr lang="es-ES" sz="2400" b="1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duzunean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makinan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zerbait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jartzen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duzunean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funtzioari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deitu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esaten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zaio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(invocar).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Deitzen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lekuari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dei-kodea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dei-lekua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deitzen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zaio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Kotlin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bati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honela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deitzen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zaio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1113589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oinarrizko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kontzeptuak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83C27F6-0D34-A27D-FD1F-1CAB7AA3CD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706" y="4861731"/>
            <a:ext cx="7723448" cy="1765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1591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457200" indent="-457200" algn="just" fontAlgn="base">
              <a:buFont typeface="+mj-lt"/>
              <a:buAutoNum type="arabicPeriod"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Lehenik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behin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circunferenciaDelCírculoPequeño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emaitza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asotzen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 (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makinatik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ateratzen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457200" indent="-457200" algn="just" fontAlgn="base">
              <a:buFont typeface="+mj-lt"/>
              <a:buAutoNum type="arabicPeriod"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Ondoren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zirkunferentzia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deitzen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izena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da.</a:t>
            </a:r>
          </a:p>
          <a:p>
            <a:pPr marL="457200" indent="-457200" algn="just" fontAlgn="base">
              <a:buFont typeface="+mj-lt"/>
              <a:buAutoNum type="arabicPeriod"/>
            </a:pP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5.2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balioa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argumetua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makinaren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barruan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jartzen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gauza da.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Funtzioari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argumentu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batekin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deitzen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diogunean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batzuetan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argumentua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pasatzen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garela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esaten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1113589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oinarrizko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kontzeptuak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87863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gertatzen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funtzioari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deitzen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diogunean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?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dezagun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idatzi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honela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deitzen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diogula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1113589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oinarrizko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kontzeptuak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0E7192F-ACD5-3C79-322C-8CFF242306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0522" y="4191000"/>
            <a:ext cx="7218750" cy="1144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81150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Funtzioari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deitzen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diogunean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2* pi*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erradioko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gorputza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jartzea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bezala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da, non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funtzioari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circunferencia(5.2)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deitzen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zaio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Orduan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honela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dela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pentsa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genezake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endParaRPr lang="es-ES" sz="2400" dirty="0"/>
          </a:p>
          <a:p>
            <a:pPr marL="0" indent="0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 fontAlgn="base"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Gero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erradio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gisa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5.2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pasatu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dugunez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pentsa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genezake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erradioa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jarri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genuen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lekuan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5.2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balioa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ordeztuko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genuela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1113589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oinarrizko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kontzeptuak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430AFB1-1AEF-08F6-17F2-547C2CCCD6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30" y="3429000"/>
            <a:ext cx="5450028" cy="963222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34CA2101-25EF-AA69-D063-EF28E7EB3D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3164" y="5433622"/>
            <a:ext cx="5874698" cy="963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30871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Laburbilduz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circunferencia (5.2)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deitzen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leku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2* pi* 5.2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idatziko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bagenu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bezala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da.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erradioa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erabiliz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zirkunferentzia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kalkula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dezakeenez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gure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funtzioari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behar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guztietan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diezaiokegu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!</a:t>
            </a: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1113589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oinarrizko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kontzeptuak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519D7E8-FB15-BE9C-6338-B5366CF326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3155" y="4165953"/>
            <a:ext cx="7822550" cy="2438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03915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1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Argumentuak</a:t>
            </a:r>
            <a:r>
              <a:rPr lang="es-ES" sz="2400" b="1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b="1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Parametroak</a:t>
            </a:r>
            <a:r>
              <a:rPr lang="es-ES" sz="2400" b="1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ES" sz="2400" b="1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Zein</a:t>
            </a:r>
            <a:r>
              <a:rPr lang="es-ES" sz="2400" b="1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 aldea?</a:t>
            </a: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Erraza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argumentu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parametro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batekin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nahastea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;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horregatik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garrantzitsua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desberdintasuna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ulertzea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algn="just" fontAlgn="base"/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Argumentu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pasatzen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diogun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da.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Adibidez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5.2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pasatu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nahi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baduzu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circunferencia()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funtziora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Argumentua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5.2 da.</a:t>
            </a:r>
          </a:p>
          <a:p>
            <a:pPr algn="just" fontAlgn="base"/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Parametro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funtzioaren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barruko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aldagaia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balioa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izango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duena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Adibidez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5.2 circunferencia()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igarotzen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garenean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erradioa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izeneko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parametroari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esleitzen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zaio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l" fontAlgn="base">
              <a:buNone/>
            </a:pP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Argumentu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funtziotik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kanpo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etorri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ohi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den </a:t>
            </a:r>
            <a:r>
              <a:rPr lang="es-ES" sz="2400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balio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da.</a:t>
            </a: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1113589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oinarrizko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kontzeptuak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567666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it-IT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Parametro bat baino gehiago dituzten funtzioak</a:t>
            </a:r>
            <a:endParaRPr lang="es-ES" sz="2400" b="1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circunferencia()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radio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izeneko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parametro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bakarra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baina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batzuetan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batek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parametro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baino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gehiago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behar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du. Bi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parametro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dituen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sortuko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.</a:t>
            </a: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1113589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oinarrizko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kontzeptuak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CDBB889-C23C-925C-CC56-78A7C9A54A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6720" y="4148667"/>
            <a:ext cx="4938188" cy="1310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30235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1113589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oinarrizko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kontzeptuak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865A069-CD29-4D71-1329-C9F0D8F2B2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6109" y="2479001"/>
            <a:ext cx="5559782" cy="1475824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7671DBDD-DCAD-E064-2837-BCDB9AF087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600" y="4325749"/>
            <a:ext cx="10610800" cy="711699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4ACB4833-239D-A86F-3D6B-13476EAD15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7343" y="5313411"/>
            <a:ext cx="6817313" cy="711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11097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1113589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oinarrizko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kontzeptuak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CB9CF74-A4F3-C38A-AC14-5C21DCF8BC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5827" y="3429000"/>
            <a:ext cx="9480346" cy="1555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22950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Izendatutako</a:t>
            </a:r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argumentuak</a:t>
            </a:r>
            <a:endParaRPr lang="es-ES" sz="2400" b="1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Argumentuen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posizioan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konfiantza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izan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beharrean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parametroen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izena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dezakezu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honela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 algn="just"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Honeri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izendatutako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argumentuak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deitzen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zaie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Aipatutako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Argumentuen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gauzarik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bikainena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ordenak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duela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axola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Horregatik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funtzioari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diezaiokezu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argumentuak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ordena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desberdinean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erabiliz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1113589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oinarrizko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kontzeptuak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03DB117-A685-1466-FD34-3DD1610196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8509" y="3827338"/>
            <a:ext cx="8878078" cy="57532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DCAE2E06-B9C4-3AE3-9BE1-66A5334115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961" y="6055772"/>
            <a:ext cx="11818937" cy="53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03768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Izendatutako</a:t>
            </a:r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argumentuak</a:t>
            </a:r>
            <a:endParaRPr lang="es-ES" sz="2400" b="1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Argumentuen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posizioan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konfiantza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izan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beharrean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parametroen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izena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dezakezu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honela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 algn="just"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Honeri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izendatutako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argumentuak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deitzen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zaie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Aipatutako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Argumentuen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gauzarik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bikainena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ordenak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duela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axola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Horregatik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funtzioari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diezaiokezu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argumentuak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ordena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desberdinean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erabiliz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1113589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oinarrizko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kontzeptuak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03DB117-A685-1466-FD34-3DD1610196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8509" y="3827338"/>
            <a:ext cx="8878078" cy="57532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DCAE2E06-B9C4-3AE3-9BE1-66A5334115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961" y="6055772"/>
            <a:ext cx="11818937" cy="53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82854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Beste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era batera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esanda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ondorengo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funtzioen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bost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guztiak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emaitza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izango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dute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 algn="just" fontAlgn="base"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1113589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oinarrizko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kontzeptuak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4FC5C41-B166-D4EE-1DED-EB2CD45435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927" y="3692253"/>
            <a:ext cx="9869005" cy="2217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70065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Aurrez</a:t>
            </a:r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zehaztutako</a:t>
            </a:r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argumentuak</a:t>
            </a:r>
            <a:endParaRPr lang="es-ES" sz="2400" b="1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Demagun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ondorengo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datuak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ditugula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1113589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oinarrizko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kontzeptuak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B29C18F-F504-7B3C-FB40-8040ACEBA1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7868" y="3914049"/>
            <a:ext cx="6656264" cy="1564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54886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222500"/>
            <a:ext cx="11266820" cy="4635500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Deiak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ondo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aztertu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gero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denboraren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parametroa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2.0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balioa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duela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behin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berriz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konturatuko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beraz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2.0-a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dezakegu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definitzean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aurrez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zehaztutako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argumentu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gisa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Velocidad()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eguneratuz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denbora-parametrorako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2.0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lehenetsia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duena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ondorengoa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da:</a:t>
            </a: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Orain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denboraren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argumentua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alde batera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utz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dezakegu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balioa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2.0ren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berdina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br>
              <a:rPr lang="es-ES" sz="2400" dirty="0"/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 fontAlgn="base">
              <a:buNone/>
            </a:pP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1113589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oinarrizko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kontzeptuak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9D6BE0A-3F2A-3A57-2DAB-E531EDF4EB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492" y="3973841"/>
            <a:ext cx="10849876" cy="566409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85AD8672-D5D9-8212-AE7E-2DA62FE364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2897" y="5372054"/>
            <a:ext cx="5403065" cy="1348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24235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222500"/>
            <a:ext cx="11266820" cy="4635500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Deiak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ondo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aztertu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gero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denboraren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parametroa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2.0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balioa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duela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behin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berriz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konturatuko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beraz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2.0-a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dezakegu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definitzean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aurrez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zehaztutako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argumentu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gisa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Velocidad()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eguneratuz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denbora-parametrorako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2.0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lehenetsia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duena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ondorengoa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da:</a:t>
            </a: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Orain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denboraren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argumentua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alde batera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utz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dezakegu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balioa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2.0ren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berdina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br>
              <a:rPr lang="es-ES" sz="2400" dirty="0"/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 fontAlgn="base">
              <a:buNone/>
            </a:pP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1113589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oinarrizko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kontzeptuak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9D6BE0A-3F2A-3A57-2DAB-E531EDF4EB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492" y="3973841"/>
            <a:ext cx="10849876" cy="566409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85AD8672-D5D9-8212-AE7E-2DA62FE364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2897" y="5372054"/>
            <a:ext cx="5403065" cy="1348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45161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241800"/>
          </a:xfrm>
        </p:spPr>
        <p:txBody>
          <a:bodyPr>
            <a:noAutofit/>
          </a:bodyPr>
          <a:lstStyle/>
          <a:p>
            <a:pPr marL="0" indent="0" algn="l" fontAlgn="base">
              <a:buNone/>
            </a:pP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Aldez</a:t>
            </a:r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aurretik</a:t>
            </a:r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zehaztutako</a:t>
            </a:r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argumentu</a:t>
            </a:r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lehenengo</a:t>
            </a:r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argumentua</a:t>
            </a:r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daba</a:t>
            </a:r>
          </a:p>
          <a:p>
            <a:pPr marL="0" indent="0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Demagun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ondorengo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datuak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ditugula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1113589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oinarrizko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kontzeptuak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04D5DA2-CE40-816E-2C52-D862A7A43B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4021" y="3744113"/>
            <a:ext cx="7440818" cy="1822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32747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241800"/>
          </a:xfrm>
        </p:spPr>
        <p:txBody>
          <a:bodyPr>
            <a:noAutofit/>
          </a:bodyPr>
          <a:lstStyle/>
          <a:p>
            <a:pPr marL="0" indent="0" algn="l" fontAlgn="base">
              <a:buNone/>
            </a:pP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Aldez</a:t>
            </a:r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aurretik</a:t>
            </a:r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zehaztutako</a:t>
            </a:r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argumentu</a:t>
            </a:r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lehenengo</a:t>
            </a:r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argumentua</a:t>
            </a:r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bada</a:t>
            </a:r>
            <a:endParaRPr lang="es-ES" sz="2400" b="1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Demagun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ondorengo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datuak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ditugula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1113589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oinarrizko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kontzeptuak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04D5DA2-CE40-816E-2C52-D862A7A43B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4021" y="3744113"/>
            <a:ext cx="7440818" cy="1822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22276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241800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Distantzia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42.195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denez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denentzat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hegazkinarentzat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izan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eguneratu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dezagun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gure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kodea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distantziari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42.195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balioa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erantsiko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diogu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aldez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aurretik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zehaztutako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argumentu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bezala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Deiak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honela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geratu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dira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:</a:t>
            </a: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1113589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oinarrizko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kontzeptuak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09FEE85-E333-446D-721B-EE52B01A65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2563" y="3657586"/>
            <a:ext cx="8769969" cy="393713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A447CFCD-1DF4-5A83-F8FB-0A3459D1D4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6505" y="4743923"/>
            <a:ext cx="5798989" cy="1495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18632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222500"/>
            <a:ext cx="11266820" cy="4406900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Honek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errorea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ematen du,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zergatik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pPr marL="0" indent="0" algn="just" fontAlgn="base"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8.27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esleitu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nahi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genion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denboraren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parametroari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honela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Baina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benetan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egiten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garena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1113589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oinarrizko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kontzeptuak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4DBAFAA-C6DA-EC3A-7C56-05F50B92FA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4335" y="3294345"/>
            <a:ext cx="8143329" cy="1131606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B77D2298-601D-F45F-64D2-066BAA0E40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2765" y="5408896"/>
            <a:ext cx="8143329" cy="1115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63352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222500"/>
            <a:ext cx="11266820" cy="4406900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Kotlini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denbora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bidali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nahi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diogula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esateko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honela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adierazitako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argumentuak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erabiliko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ditugu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br>
              <a:rPr lang="es-ES" sz="2400" dirty="0"/>
            </a:b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1113589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oinarrizko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kontzeptuak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093CE11-572B-9151-46FC-9C0767E99A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6214" y="3429000"/>
            <a:ext cx="8262668" cy="1931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50359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241800"/>
          </a:xfrm>
        </p:spPr>
        <p:txBody>
          <a:bodyPr>
            <a:noAutofit/>
          </a:bodyPr>
          <a:lstStyle/>
          <a:p>
            <a:pPr marL="0" indent="0" algn="l" fontAlgn="base">
              <a:buNone/>
            </a:pP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Adierazpen-gorputzak</a:t>
            </a:r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bloke-gorputzak</a:t>
            </a:r>
            <a:endParaRPr lang="es-ES" sz="2400" b="1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s-ES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Adierazpen-gorputzak</a:t>
            </a:r>
            <a:r>
              <a:rPr lang="es-E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endParaRPr lang="es-E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s-ES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Bloke-gorputzak</a:t>
            </a:r>
            <a:r>
              <a:rPr lang="es-E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1113589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oinarrizko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kontzeptuak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3F6DF63-2CA8-5EDA-AF0F-B0BDA3BC78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284" y="2844145"/>
            <a:ext cx="5918529" cy="1169709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E5D1BA46-23A0-746B-B849-6880C0EC13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284" y="4508500"/>
            <a:ext cx="5163989" cy="1613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78825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1113589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oinarrizko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kontzeptuak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DCF9B431-95BA-97B4-4BCB-EB2F2CF644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145" y="2340168"/>
            <a:ext cx="9674570" cy="1500335"/>
          </a:xfrm>
          <a:prstGeom prst="rect">
            <a:avLst/>
          </a:prstGeom>
        </p:spPr>
      </p:pic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C1486F12-61CA-7DCD-4F14-370CCABD94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4000500"/>
            <a:ext cx="11266820" cy="2628900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Praktika</a:t>
            </a:r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onak</a:t>
            </a:r>
            <a:endParaRPr lang="es-ES" sz="2400" b="1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Adierazpen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bakar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ebaluatzen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duzunean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Kotlinen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ohikoa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s-ES" sz="2400" b="0" i="0" dirty="0" err="1">
                <a:solidFill>
                  <a:srgbClr val="00B0F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gorputzaren</a:t>
            </a:r>
            <a:r>
              <a:rPr lang="es-ES" sz="2400" b="0" i="0" dirty="0">
                <a:solidFill>
                  <a:srgbClr val="00B0F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B0F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adierazpenak</a:t>
            </a:r>
            <a:r>
              <a:rPr lang="es-ES" sz="2400" b="0" i="0" dirty="0">
                <a:solidFill>
                  <a:srgbClr val="00B0F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erabiltzea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bloke-gorputzaren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ordez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B0F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Bloke-gorputzak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dituzten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funtzioek</a:t>
            </a:r>
            <a:r>
              <a:rPr lang="es-ES" sz="24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lerro</a:t>
            </a:r>
            <a:r>
              <a:rPr lang="es-ES" sz="24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asko</a:t>
            </a:r>
            <a:r>
              <a:rPr lang="es-ES" sz="24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izan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ditzaketen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hobeto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ulertzen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labur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mantentzen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direnean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88613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260600"/>
            <a:ext cx="11266820" cy="4368800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Emaitzarik</a:t>
            </a:r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gabeko</a:t>
            </a:r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funtzioak</a:t>
            </a:r>
            <a:endParaRPr lang="es-ES" sz="2400" b="1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Batzuetan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emaitza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itzultzen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nahiko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enuke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Adibidez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denboran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zeharreko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gehikuntza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kopuru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kontagailu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izenekoa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Gehikuntza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izeneko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sortuko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deitzen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bakoitzean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kontagailua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handituko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da,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sententzia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ondorengoa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izanik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ES" sz="2400" b="0" i="0" dirty="0" err="1">
                <a:solidFill>
                  <a:srgbClr val="00B0F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kontagailua</a:t>
            </a:r>
            <a:r>
              <a:rPr lang="es-ES" sz="2400" b="0" i="0" dirty="0">
                <a:solidFill>
                  <a:srgbClr val="00B0F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s-ES" sz="2400" b="0" i="0" dirty="0" err="1">
                <a:solidFill>
                  <a:srgbClr val="00B0F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kontagailua</a:t>
            </a:r>
            <a:r>
              <a:rPr lang="es-ES" sz="2400" b="0" i="0" dirty="0">
                <a:solidFill>
                  <a:srgbClr val="00B0F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+ 1.</a:t>
            </a: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Adierazpen-gorputzak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dituzten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adierazpen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bakarra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izan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dezakete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Ezin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esaera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adierazpen-gorputz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batean.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Adibidez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ezin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egin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errorea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ematen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baitu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br>
              <a:rPr lang="es-ES" sz="2400" dirty="0"/>
            </a:br>
            <a:endParaRPr lang="es-ES" sz="2400" b="0" i="0" dirty="0">
              <a:solidFill>
                <a:srgbClr val="00B0F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1113589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oinarrizko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kontzeptuak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6448818-5B87-97C9-09BA-9AE51EDB17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0840" y="5568725"/>
            <a:ext cx="4936959" cy="106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65653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260600"/>
            <a:ext cx="11266820" cy="4368800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Adierazpen-gorputza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beharrean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hobe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bloke-gorputza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erabiltzea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horretarako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Ziur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aski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konturatu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zineten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itzulera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-mota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zehazten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B0F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1113589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oinarrizko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kontzeptuak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BFA8A895-3561-1651-8780-9923541527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0645" y="2821881"/>
            <a:ext cx="3727570" cy="1797403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78F00CB1-8BEA-EF38-DE74-46C7DB7103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8916" y="5180565"/>
            <a:ext cx="5671028" cy="133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84675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260600"/>
            <a:ext cx="11266820" cy="4368800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Harrituta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egongo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zarie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itzultzen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buen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balioa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mota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zehazten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dugulako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baina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Kotlinek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badu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Unit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izeneko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mota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berezi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non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Bloke-gorputza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batean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itzulera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mota,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automatikoki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itzultzen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da.</a:t>
            </a:r>
          </a:p>
          <a:p>
            <a:pPr marL="0" indent="0" algn="just" fontAlgn="base">
              <a:buNone/>
            </a:pPr>
            <a:r>
              <a:rPr lang="es-ES" sz="2400" b="1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Unit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 da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zenbaki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kate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generiko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da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batzutan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erabilgarria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izango da.</a:t>
            </a:r>
          </a:p>
          <a:p>
            <a:pPr marL="0" indent="0" algn="just" fontAlgn="base">
              <a:buNone/>
            </a:pP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B0F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1113589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oinarrizko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kontzeptuak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758997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la de reuniones Ion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{8CE52295-FD27-492C-84C7-95F108672C99}tf02900722</Template>
  <TotalTime>5877</TotalTime>
  <Words>2432</Words>
  <Application>Microsoft Office PowerPoint</Application>
  <PresentationFormat>Panorámica</PresentationFormat>
  <Paragraphs>278</Paragraphs>
  <Slides>57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57</vt:i4>
      </vt:variant>
    </vt:vector>
  </HeadingPairs>
  <TitlesOfParts>
    <vt:vector size="64" baseType="lpstr">
      <vt:lpstr>Algerian</vt:lpstr>
      <vt:lpstr>Arial</vt:lpstr>
      <vt:lpstr>Century Gothic</vt:lpstr>
      <vt:lpstr>Corbel</vt:lpstr>
      <vt:lpstr>Verdana</vt:lpstr>
      <vt:lpstr>Wingdings 3</vt:lpstr>
      <vt:lpstr>Sala de reuniones Ion</vt:lpstr>
      <vt:lpstr>Android studio</vt:lpstr>
      <vt:lpstr> helburuak</vt:lpstr>
      <vt:lpstr> aldagaiak</vt:lpstr>
      <vt:lpstr> aldagaiak</vt:lpstr>
      <vt:lpstr> aldagaiak</vt:lpstr>
      <vt:lpstr> aldagaiak</vt:lpstr>
      <vt:lpstr> Aldagaiak berresleitzea</vt:lpstr>
      <vt:lpstr>Berresleitu ezin diren aldagaiak</vt:lpstr>
      <vt:lpstr>Berresleitu ezin diren aldagaiak</vt:lpstr>
      <vt:lpstr>Berresleitu ezin diren aldagaiak</vt:lpstr>
      <vt:lpstr>Aldagaiak izendatu</vt:lpstr>
      <vt:lpstr>Expresioak eta adierazpenak</vt:lpstr>
      <vt:lpstr>Motak: Balio mota desberdinak</vt:lpstr>
      <vt:lpstr>Motak: Balio mota desberdinak</vt:lpstr>
      <vt:lpstr>Presentación de PowerPoint</vt:lpstr>
      <vt:lpstr>Integerrak (osoak-int)</vt:lpstr>
      <vt:lpstr>Boolearrak(Boolean)</vt:lpstr>
      <vt:lpstr>String-ak (Kateak)</vt:lpstr>
      <vt:lpstr>String-ak (Kateak)</vt:lpstr>
      <vt:lpstr>Funtzioak</vt:lpstr>
      <vt:lpstr>Funtzioak</vt:lpstr>
      <vt:lpstr>Funtzioak</vt:lpstr>
      <vt:lpstr>Funtzioak</vt:lpstr>
      <vt:lpstr>Funtzioak</vt:lpstr>
      <vt:lpstr>Funtzioak</vt:lpstr>
      <vt:lpstr>Funtzioak</vt:lpstr>
      <vt:lpstr>Funtzioak</vt:lpstr>
      <vt:lpstr>Funtzioen oinarrizko kontzeptuak</vt:lpstr>
      <vt:lpstr>Funtzioen oinarrizko kontzeptuak</vt:lpstr>
      <vt:lpstr>Funtzioen oinarrizko kontzeptuak</vt:lpstr>
      <vt:lpstr>Funtzioen oinarrizko kontzeptuak</vt:lpstr>
      <vt:lpstr>Funtzioen oinarrizko kontzeptuak</vt:lpstr>
      <vt:lpstr>Funtzioen oinarrizko kontzeptuak</vt:lpstr>
      <vt:lpstr>Funtzioen oinarrizko kontzeptuak</vt:lpstr>
      <vt:lpstr>Funtzioen oinarrizko kontzeptuak</vt:lpstr>
      <vt:lpstr>Funtzioen oinarrizko kontzeptuak</vt:lpstr>
      <vt:lpstr>Funtzioen oinarrizko kontzeptuak</vt:lpstr>
      <vt:lpstr>Funtzioen oinarrizko kontzeptuak</vt:lpstr>
      <vt:lpstr>Funtzioen oinarrizko kontzeptuak</vt:lpstr>
      <vt:lpstr>Funtzioen oinarrizko kontzeptuak</vt:lpstr>
      <vt:lpstr>Funtzioen oinarrizko kontzeptuak</vt:lpstr>
      <vt:lpstr>Funtzioen oinarrizko kontzeptuak</vt:lpstr>
      <vt:lpstr>Funtzioen oinarrizko kontzeptuak</vt:lpstr>
      <vt:lpstr>Funtzioen oinarrizko kontzeptuak</vt:lpstr>
      <vt:lpstr>Funtzioen oinarrizko kontzeptuak</vt:lpstr>
      <vt:lpstr>Funtzioen oinarrizko kontzeptuak</vt:lpstr>
      <vt:lpstr>Funtzioen oinarrizko kontzeptuak</vt:lpstr>
      <vt:lpstr>Funtzioen oinarrizko kontzeptuak</vt:lpstr>
      <vt:lpstr>Funtzioen oinarrizko kontzeptuak</vt:lpstr>
      <vt:lpstr>Funtzioen oinarrizko kontzeptuak</vt:lpstr>
      <vt:lpstr>Funtzioen oinarrizko kontzeptuak</vt:lpstr>
      <vt:lpstr>Funtzioen oinarrizko kontzeptuak</vt:lpstr>
      <vt:lpstr>Funtzioen oinarrizko kontzeptuak</vt:lpstr>
      <vt:lpstr>Funtzioen oinarrizko kontzeptuak</vt:lpstr>
      <vt:lpstr>Funtzioen oinarrizko kontzeptuak</vt:lpstr>
      <vt:lpstr>Funtzioen oinarrizko kontzeptuak</vt:lpstr>
      <vt:lpstr>Funtzioen oinarrizko kontzeptuak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lorea mendieta lastra</dc:creator>
  <cp:lastModifiedBy>lorea mendieta lastra</cp:lastModifiedBy>
  <cp:revision>17</cp:revision>
  <dcterms:created xsi:type="dcterms:W3CDTF">2024-08-04T10:10:26Z</dcterms:created>
  <dcterms:modified xsi:type="dcterms:W3CDTF">2024-09-13T07:04:36Z</dcterms:modified>
</cp:coreProperties>
</file>